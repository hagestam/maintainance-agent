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4" r:id="rId5"/>
    <p:sldId id="274" r:id="rId6"/>
    <p:sldId id="275" r:id="rId7"/>
    <p:sldId id="267" r:id="rId8"/>
    <p:sldId id="268" r:id="rId9"/>
    <p:sldId id="270" r:id="rId10"/>
    <p:sldId id="271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7441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teams warmly. Frame the session: this is a kick-off, not a lecture — by the end you will know how maintenance works today, the data behind it, how to organise your team, and exactly what to submit next. 7 teams, one real factory, jury pitch on 25 July is the finish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parts quickly so people have a map. Parts 1 and 2 give shared context (same for every team); parts 3 and 4 are about what YOUR team does next. Keep it to a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 For the next few minutes everyone learns the same thing — exactly how a maintenance job flows today, end to end. You cannot improve what you do not 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 The system runs on data. We show the entities, how they relate, and real sample rows. A clean data model is what makes the AI agent possible — foundation, not afterthought.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top-to-bottom: a department employs users; a user creates a task request against one asset; a task request contains many work orders; each work order is staffed by technicians through the link table, which also records start/stop times. The arrow points from the 'one' side to the 'many'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One-to-many relationships are just a foreign-key column on the 'many' side. The work order to technician link is the only true many-to-many, so it needs a separate table. The user-technician link is optional on both sides.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 Shift from context to action. The next two slides are about how YOUR team sets itself up to win — leadership first, then dividing work by strength.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concrete action: elect a leader today. Frame it positively — a coordinator, not a boss (a nice echo of the challenge itself). One point of contact for mentors, keeps cadence, owns the submission, breaks ties. Prevents the most common failure: a team that drifts because no one is steering.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 This is what they leave to go do. Build anticipation: a clear next deliverable and a mentor gate before building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call to action. Before the next session each team submits a proposal covering the five items on the left (prototype optional but a strong one helps). Then the validation gate: we review, flag gaps, give a green light. Emphasise WHY we validate first — it stops a team building the wrong thing for a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KNITS · INNOVATION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AI-Powered CMMS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&amp; Onboarding  ·  Mentor Session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0" y="54864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F1B2D">
                <a:alpha val="16000"/>
              </a:srgbClr>
            </a:outerShdw>
          </a:effectLst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2" y="804672"/>
            <a:ext cx="402336" cy="40233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589520" y="548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14233A"/>
                </a:solidFill>
              </a:rPr>
              <a:t>RT</a:t>
            </a:r>
            <a:endParaRPr lang="en-US" sz="100" dirty="0"/>
          </a:p>
        </p:txBody>
      </p:sp>
      <p:sp>
        <p:nvSpPr>
          <p:cNvPr id="19" name="Text 15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Knits · Innovation Challenge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8229600" y="48326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in this kick-off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/>
          <a:effectLst>
            <a:outerShdw blurRad="88900" dist="38100" dir="5400000" algn="bl" rotWithShape="0">
              <a:srgbClr val="0F1B2D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74520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F1B2D">
                <a:alpha val="16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12" y="2033260"/>
            <a:ext cx="249448" cy="249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1965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system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2203704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is raised, assigned, and closed today.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867912" y="165506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8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800600" y="160020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/>
          <a:effectLst>
            <a:outerShdw blurRad="88900" dist="38100" dir="5400000" algn="bl" rotWithShape="0">
              <a:srgbClr val="0F1B2D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56632" y="1874520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F1B2D">
                <a:alpha val="16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5372" y="2033260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06440" y="181965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foundation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806440" y="2203704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behind it — entities, links, real sample data.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8119872" y="165506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8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548640" y="33375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/>
          <a:effectLst>
            <a:outerShdw blurRad="88900" dist="38100" dir="5400000" algn="bl" rotWithShape="0">
              <a:srgbClr val="0F1B2D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4672" y="3611880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F1B2D">
                <a:alpha val="16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412" y="3770620"/>
            <a:ext cx="249448" cy="2494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355701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your team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554480" y="3941064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 a leader and map roles to each member's strengths.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3867912" y="339242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8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4800600" y="33375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/>
          <a:effectLst>
            <a:outerShdw blurRad="88900" dist="38100" dir="5400000" algn="bl" rotWithShape="0">
              <a:srgbClr val="0F1B2D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056632" y="3611880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F1B2D">
                <a:alpha val="16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5372" y="3770620"/>
            <a:ext cx="249448" cy="2494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806440" y="355701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step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5806440" y="3941064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proposal — your mentors validate before you build.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8119872" y="339242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8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9" name="Text 22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Knits · Innovation Challenge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0" y="182880"/>
            <a:ext cx="3840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Current System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58368" y="29718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24/7 factory keeps its machines running — today.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3886200"/>
            <a:ext cx="640080" cy="640080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F1B2D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" y="4065422"/>
            <a:ext cx="281635" cy="2816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Knits · Innovation Challenge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8229600" y="48326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defTabSz="914400" rtl="0" eaLnBrk="1" latinLnBrk="0" hangingPunct="1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0" y="182880"/>
            <a:ext cx="3840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Foundation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58368" y="29718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relational backbone — your single source of truth.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3886200"/>
            <a:ext cx="640080" cy="640080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F1B2D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" y="4065422"/>
            <a:ext cx="281635" cy="2816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Knits · Innovation Challenge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8229600" y="48326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b="1" dirty="0">
                <a:solidFill>
                  <a:srgbClr val="17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diagram</a:t>
            </a:r>
            <a:endParaRPr lang="en-US" sz="1950" dirty="0"/>
          </a:p>
        </p:txBody>
      </p:sp>
      <p:pic>
        <p:nvPicPr>
          <p:cNvPr id="3" name="Image 0" descr="e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021" y="720090"/>
            <a:ext cx="7205099" cy="40119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480060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in the schema (not shown): a technician may optionally map to one user account via technician.user_id.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b="1" dirty="0">
                <a:solidFill>
                  <a:srgbClr val="17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at a glance</a:t>
            </a:r>
            <a:endParaRPr lang="en-US" sz="1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445770" y="1028700"/>
          <a:ext cx="8229600" cy="3456432"/>
        </p:xfrm>
        <a:graphic>
          <a:graphicData uri="http://schemas.openxmlformats.org/drawingml/2006/table">
            <a:tbl>
              <a:tblPr/>
              <a:tblGrid>
                <a:gridCol w="2948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3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→ 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One-to-many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department_id on app_user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→ Task request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One-to-many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created_by_user_id on task_request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→ Task request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One-to-many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asset_id on task_request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request → Work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One-to-many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task_request_id on work_order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order ↔ Technician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6F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Many-to-many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Junction work_order_technician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↔ Technician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Zero/one ↔ zero/one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Nullable unique FK user_id on technician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445770" y="469773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relationship is enforced with a foreign key; the only many-to-many gets its own link table.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0" y="182880"/>
            <a:ext cx="3840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Organise Your Team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58368" y="29718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leader, then play to every member's strengths.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3886200"/>
            <a:ext cx="640080" cy="640080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F1B2D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" y="4065422"/>
            <a:ext cx="281635" cy="2816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Knits · Innovation Challenge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MOVE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 a team leader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26680" y="50292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F1B2D">
                <a:alpha val="1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7109" y="733349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design work, agree on one person to hold the team together.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3886200" cy="960120"/>
          </a:xfrm>
          <a:prstGeom prst="roundRect">
            <a:avLst>
              <a:gd name="adj" fmla="val 6667"/>
            </a:avLst>
          </a:prstGeom>
          <a:solidFill>
            <a:srgbClr val="F3F6FA"/>
          </a:solidFill>
          <a:ln/>
          <a:effectLst>
            <a:outerShdw blurRad="88900" dist="38100" dir="5400000" algn="bl" rotWithShape="0">
              <a:srgbClr val="0F1B2D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2523744"/>
            <a:ext cx="475488" cy="475488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F1B2D">
                <a:alpha val="16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5" y="2656881"/>
            <a:ext cx="209215" cy="20921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4323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contact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371600" y="2724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mentors talk to one person — questions and updates flow through the leader.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800600" y="2286000"/>
            <a:ext cx="3886200" cy="960120"/>
          </a:xfrm>
          <a:prstGeom prst="roundRect">
            <a:avLst>
              <a:gd name="adj" fmla="val 6667"/>
            </a:avLst>
          </a:prstGeom>
          <a:solidFill>
            <a:srgbClr val="F3F6FA"/>
          </a:solidFill>
          <a:ln/>
          <a:effectLst>
            <a:outerShdw blurRad="88900" dist="38100" dir="5400000" algn="bl" rotWithShape="0">
              <a:srgbClr val="0F1B2D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001768" y="2523744"/>
            <a:ext cx="475488" cy="475488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F1B2D">
                <a:alpha val="16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4905" y="2656881"/>
            <a:ext cx="209215" cy="20921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23560" y="24323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cadence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623560" y="2724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meeting times, tracks tasks, makes sure nothing stalls before deadlines.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3474720"/>
            <a:ext cx="3886200" cy="960120"/>
          </a:xfrm>
          <a:prstGeom prst="roundRect">
            <a:avLst>
              <a:gd name="adj" fmla="val 6667"/>
            </a:avLst>
          </a:prstGeom>
          <a:solidFill>
            <a:srgbClr val="F3F6FA"/>
          </a:solidFill>
          <a:ln/>
          <a:effectLst>
            <a:outerShdw blurRad="88900" dist="38100" dir="5400000" algn="bl" rotWithShape="0">
              <a:srgbClr val="0F1B2D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49808" y="3712464"/>
            <a:ext cx="475488" cy="475488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F1B2D">
                <a:alpha val="16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5" y="3845601"/>
            <a:ext cx="209215" cy="20921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36210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submission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371600" y="3913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for assembling and sending the proposal on time.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800600" y="3474720"/>
            <a:ext cx="3886200" cy="960120"/>
          </a:xfrm>
          <a:prstGeom prst="roundRect">
            <a:avLst>
              <a:gd name="adj" fmla="val 6667"/>
            </a:avLst>
          </a:prstGeom>
          <a:solidFill>
            <a:srgbClr val="F3F6FA"/>
          </a:solidFill>
          <a:ln/>
          <a:effectLst>
            <a:outerShdw blurRad="88900" dist="38100" dir="5400000" algn="bl" rotWithShape="0">
              <a:srgbClr val="0F1B2D">
                <a:alpha val="1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001768" y="3712464"/>
            <a:ext cx="475488" cy="475488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F1B2D">
                <a:alpha val="16000"/>
              </a:srgbClr>
            </a:outerShdw>
          </a:effectLst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4905" y="3845601"/>
            <a:ext cx="209215" cy="20921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623560" y="36210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ties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5623560" y="3913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team is split, the leader makes the call so you keep moving.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Knits · Innovation Challenge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0" y="182880"/>
            <a:ext cx="3840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Next Step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58368" y="29718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proposal — we validate before you build.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3886200"/>
            <a:ext cx="640080" cy="640080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F1B2D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" y="4065422"/>
            <a:ext cx="281635" cy="2816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Knits · Innovation Challenge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8229600" y="48326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proposal — then we validate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proposal should cover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29968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29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933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design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agent behaviour, user flows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42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50545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logic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prioritises, plans, and where humans step 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0175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captured at each step, and how it's reused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66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52958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gains vs. today — time, uptime, effort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078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0416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691640"/>
            <a:ext cx="3749040" cy="2971800"/>
          </a:xfrm>
          <a:prstGeom prst="roundRect">
            <a:avLst>
              <a:gd name="adj" fmla="val 3077"/>
            </a:avLst>
          </a:prstGeom>
          <a:solidFill>
            <a:srgbClr val="14233A"/>
          </a:solidFill>
          <a:ln/>
          <a:effectLst>
            <a:outerShdw blurRad="88900" dist="38100" dir="5400000" algn="bl" rotWithShape="0">
              <a:srgbClr val="0F1B2D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7492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validation gate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74920" y="2286000"/>
            <a:ext cx="502920" cy="502920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F1B2D">
                <a:alpha val="16000"/>
              </a:srgbClr>
            </a:outerShdw>
          </a:effectLst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738" y="2426818"/>
            <a:ext cx="221285" cy="221285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715000" y="2304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submit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71500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 lands with your mentors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21208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074920" y="3063240"/>
            <a:ext cx="502920" cy="502920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F1B2D">
                <a:alpha val="16000"/>
              </a:srgbClr>
            </a:outerShdw>
          </a:effectLst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5738" y="3204058"/>
            <a:ext cx="221285" cy="221285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715000" y="3081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review &amp; validate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571500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check the thinking and flag gaps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521208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5074920" y="3840480"/>
            <a:ext cx="502920" cy="502920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F1B2D">
                <a:alpha val="16000"/>
              </a:srgbClr>
            </a:outerShdw>
          </a:effectLst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5738" y="3981298"/>
            <a:ext cx="221285" cy="221285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71500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light to build</a:t>
            </a:r>
            <a:endParaRPr lang="en-US" sz="1250" dirty="0"/>
          </a:p>
        </p:txBody>
      </p:sp>
      <p:sp>
        <p:nvSpPr>
          <p:cNvPr id="35" name="Text 30"/>
          <p:cNvSpPr/>
          <p:nvPr/>
        </p:nvSpPr>
        <p:spPr>
          <a:xfrm>
            <a:off x="571500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teams start building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548640" y="46177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first means you never spend a week building the wrong thing.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Knits · Innovation Challenge</a:t>
            </a:r>
            <a:endParaRPr lang="en-US" sz="850" dirty="0"/>
          </a:p>
        </p:txBody>
      </p:sp>
      <p:sp>
        <p:nvSpPr>
          <p:cNvPr id="39" name="Text 33"/>
          <p:cNvSpPr/>
          <p:nvPr/>
        </p:nvSpPr>
        <p:spPr>
          <a:xfrm>
            <a:off x="8229600" y="48326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CDFA45B-1509-114A-B7CB-5AC145EB9A1A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1010</Words>
  <Application>Microsoft Macintosh PowerPoint</Application>
  <PresentationFormat>On-screen Show (16:9)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AI-Powered CMMS — Kick-off</dc:title>
  <dc:subject>PptxGenJS Presentation</dc:subject>
  <dc:creator>RT Knits — Mentor Team</dc:creator>
  <cp:lastModifiedBy>Nasiirah Bibi Haadiyah Lowtun</cp:lastModifiedBy>
  <cp:revision>8</cp:revision>
  <dcterms:created xsi:type="dcterms:W3CDTF">2026-06-29T07:02:25Z</dcterms:created>
  <dcterms:modified xsi:type="dcterms:W3CDTF">2026-06-29T09:45:33Z</dcterms:modified>
</cp:coreProperties>
</file>